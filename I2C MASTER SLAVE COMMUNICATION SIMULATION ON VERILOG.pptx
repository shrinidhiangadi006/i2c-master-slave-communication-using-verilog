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9" r:id="rId3"/>
    <p:sldId id="276" r:id="rId4"/>
    <p:sldId id="263" r:id="rId5"/>
    <p:sldId id="264" r:id="rId6"/>
    <p:sldId id="274" r:id="rId7"/>
    <p:sldId id="275" r:id="rId8"/>
    <p:sldId id="258" r:id="rId9"/>
    <p:sldId id="277" r:id="rId10"/>
    <p:sldId id="278" r:id="rId11"/>
    <p:sldId id="259" r:id="rId12"/>
    <p:sldId id="268" r:id="rId13"/>
    <p:sldId id="271" r:id="rId14"/>
    <p:sldId id="267" r:id="rId15"/>
    <p:sldId id="272" r:id="rId16"/>
    <p:sldId id="273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0343-FDBA-4897-B7E1-0DD0AD7DC17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4A0A-3EB2-41AD-9ED4-A659FBEAFD6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166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0343-FDBA-4897-B7E1-0DD0AD7DC17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4A0A-3EB2-41AD-9ED4-A659FBEAFD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689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0343-FDBA-4897-B7E1-0DD0AD7DC17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4A0A-3EB2-41AD-9ED4-A659FBEAFD6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12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0343-FDBA-4897-B7E1-0DD0AD7DC17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4A0A-3EB2-41AD-9ED4-A659FBEAFD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96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0343-FDBA-4897-B7E1-0DD0AD7DC17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4A0A-3EB2-41AD-9ED4-A659FBEAFD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669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0343-FDBA-4897-B7E1-0DD0AD7DC17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4A0A-3EB2-41AD-9ED4-A659FBEAFD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102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0343-FDBA-4897-B7E1-0DD0AD7DC17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4A0A-3EB2-41AD-9ED4-A659FBEAFD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122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4250343-FDBA-4897-B7E1-0DD0AD7DC17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604A0A-3EB2-41AD-9ED4-A659FBEAFD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790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0343-FDBA-4897-B7E1-0DD0AD7DC17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4A0A-3EB2-41AD-9ED4-A659FBEAFD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61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0343-FDBA-4897-B7E1-0DD0AD7DC17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4A0A-3EB2-41AD-9ED4-A659FBEAFD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77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0343-FDBA-4897-B7E1-0DD0AD7DC17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4A0A-3EB2-41AD-9ED4-A659FBEAFD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43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4250343-FDBA-4897-B7E1-0DD0AD7DC17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B604A0A-3EB2-41AD-9ED4-A659FBEAFD6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755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rcuitbasics.com/basics-of-the-i2c-communication-protocol" TargetMode="External"/><Relationship Id="rId2" Type="http://schemas.openxmlformats.org/officeDocument/2006/relationships/hyperlink" Target="http://www.ijrat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1E97-48F1-2590-1A3D-D9A70A07C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6069" y="1544081"/>
            <a:ext cx="10577424" cy="1836174"/>
          </a:xfrm>
        </p:spPr>
        <p:txBody>
          <a:bodyPr>
            <a:noAutofit/>
          </a:bodyPr>
          <a:lstStyle/>
          <a:p>
            <a:r>
              <a:rPr lang="en-IN" sz="6000" dirty="0"/>
              <a:t>I2C MASTER SLAVE COMMUNICATION USING VERILOG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598A8-2CC0-C558-6BB7-72F3A5179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6069" y="4395832"/>
            <a:ext cx="9992381" cy="196759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Sakshi k v</a:t>
            </a:r>
          </a:p>
          <a:p>
            <a:r>
              <a:rPr lang="en-US" dirty="0"/>
              <a:t>Samruddhi s kage</a:t>
            </a:r>
          </a:p>
          <a:p>
            <a:r>
              <a:rPr lang="en-US" dirty="0"/>
              <a:t>Sanjana </a:t>
            </a:r>
            <a:r>
              <a:rPr lang="en-US" dirty="0" err="1"/>
              <a:t>veerangoudar</a:t>
            </a:r>
            <a:endParaRPr lang="en-US" dirty="0"/>
          </a:p>
          <a:p>
            <a:r>
              <a:rPr lang="en-US" dirty="0"/>
              <a:t>Shrinidhi Angadi</a:t>
            </a:r>
          </a:p>
          <a:p>
            <a:r>
              <a:rPr lang="en-US" dirty="0"/>
              <a:t>                                                      Under the guidance of</a:t>
            </a:r>
          </a:p>
          <a:p>
            <a:r>
              <a:rPr lang="en-US" dirty="0"/>
              <a:t>                                                        Prof. </a:t>
            </a:r>
            <a:r>
              <a:rPr lang="en-US" dirty="0" err="1"/>
              <a:t>sunil</a:t>
            </a:r>
            <a:r>
              <a:rPr lang="en-US" dirty="0"/>
              <a:t> </a:t>
            </a:r>
            <a:r>
              <a:rPr lang="en-US" dirty="0" err="1"/>
              <a:t>mathad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95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018F-A1C7-699A-6015-BAE27985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86" y="1849932"/>
            <a:ext cx="10058400" cy="1450757"/>
          </a:xfrm>
        </p:spPr>
        <p:txBody>
          <a:bodyPr>
            <a:normAutofit/>
          </a:bodyPr>
          <a:lstStyle/>
          <a:p>
            <a:r>
              <a:rPr lang="en-US" sz="7200" dirty="0"/>
              <a:t>Communication Protocols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48564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D80898-AAB5-38DB-2735-6799C6A963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17961"/>
              </p:ext>
            </p:extLst>
          </p:nvPr>
        </p:nvGraphicFramePr>
        <p:xfrm>
          <a:off x="865239" y="719664"/>
          <a:ext cx="10491018" cy="40293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4167">
                  <a:extLst>
                    <a:ext uri="{9D8B030D-6E8A-4147-A177-3AD203B41FA5}">
                      <a16:colId xmlns:a16="http://schemas.microsoft.com/office/drawing/2014/main" val="2105097576"/>
                    </a:ext>
                  </a:extLst>
                </a:gridCol>
                <a:gridCol w="1877962">
                  <a:extLst>
                    <a:ext uri="{9D8B030D-6E8A-4147-A177-3AD203B41FA5}">
                      <a16:colId xmlns:a16="http://schemas.microsoft.com/office/drawing/2014/main" val="1597535622"/>
                    </a:ext>
                  </a:extLst>
                </a:gridCol>
                <a:gridCol w="1853380">
                  <a:extLst>
                    <a:ext uri="{9D8B030D-6E8A-4147-A177-3AD203B41FA5}">
                      <a16:colId xmlns:a16="http://schemas.microsoft.com/office/drawing/2014/main" val="3283801774"/>
                    </a:ext>
                  </a:extLst>
                </a:gridCol>
                <a:gridCol w="1748503">
                  <a:extLst>
                    <a:ext uri="{9D8B030D-6E8A-4147-A177-3AD203B41FA5}">
                      <a16:colId xmlns:a16="http://schemas.microsoft.com/office/drawing/2014/main" val="4228115820"/>
                    </a:ext>
                  </a:extLst>
                </a:gridCol>
                <a:gridCol w="1748503">
                  <a:extLst>
                    <a:ext uri="{9D8B030D-6E8A-4147-A177-3AD203B41FA5}">
                      <a16:colId xmlns:a16="http://schemas.microsoft.com/office/drawing/2014/main" val="297106706"/>
                    </a:ext>
                  </a:extLst>
                </a:gridCol>
                <a:gridCol w="1748503">
                  <a:extLst>
                    <a:ext uri="{9D8B030D-6E8A-4147-A177-3AD203B41FA5}">
                      <a16:colId xmlns:a16="http://schemas.microsoft.com/office/drawing/2014/main" val="2503520444"/>
                    </a:ext>
                  </a:extLst>
                </a:gridCol>
              </a:tblGrid>
              <a:tr h="38856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UART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USB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SPI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I2C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75652"/>
                  </a:ext>
                </a:extLst>
              </a:tr>
              <a:tr h="1532950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Well known simple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Secure fast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Secure ,fast, plug and play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Fast, low cost, universally accepted, large portfolio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Simple, plug and play, cost efficient, universally accepted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973631"/>
                  </a:ext>
                </a:extLst>
              </a:tr>
              <a:tr h="2107807"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Limited, functionally, point to point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Complex, limited portfolio, automotive oriented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Powerful master required, no plug and play software, extra drivers required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plug and play hardware, no fixed standard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no. of components due to capacitance effect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66725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49B71C6-9CA0-4530-6951-3D1EF5D3459D}"/>
              </a:ext>
            </a:extLst>
          </p:cNvPr>
          <p:cNvSpPr txBox="1"/>
          <p:nvPr/>
        </p:nvSpPr>
        <p:spPr>
          <a:xfrm>
            <a:off x="4326194" y="4896464"/>
            <a:ext cx="3972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Comparison of different protocols [3]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055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EF3B-3F7A-95B1-F5F1-0634CE725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560" y="271363"/>
            <a:ext cx="10058400" cy="1450757"/>
          </a:xfrm>
        </p:spPr>
        <p:txBody>
          <a:bodyPr/>
          <a:lstStyle/>
          <a:p>
            <a:r>
              <a:rPr lang="en-IN" sz="4800" dirty="0">
                <a:solidFill>
                  <a:srgbClr val="000000"/>
                </a:solidFill>
                <a:effectLst/>
                <a:latin typeface="TimesNewRomanPS-BoldMT"/>
              </a:rPr>
              <a:t>I2C COMMUNICATION PROTOCOL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1232EB-7562-B647-AC83-C7ABE8276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293" y="1906973"/>
            <a:ext cx="8630854" cy="35723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0814BE-E464-817F-5DE2-06D6D34FE584}"/>
              </a:ext>
            </a:extLst>
          </p:cNvPr>
          <p:cNvSpPr txBox="1"/>
          <p:nvPr/>
        </p:nvSpPr>
        <p:spPr>
          <a:xfrm>
            <a:off x="7030719" y="5028735"/>
            <a:ext cx="46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[5]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7EE4A-E685-347F-3238-152E89B03DBE}"/>
              </a:ext>
            </a:extLst>
          </p:cNvPr>
          <p:cNvSpPr txBox="1"/>
          <p:nvPr/>
        </p:nvSpPr>
        <p:spPr>
          <a:xfrm>
            <a:off x="9173496" y="1818483"/>
            <a:ext cx="1543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Typical- 5v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19F2F6-8E59-1EAD-482D-4193C649B46B}"/>
              </a:ext>
            </a:extLst>
          </p:cNvPr>
          <p:cNvSpPr txBox="1"/>
          <p:nvPr/>
        </p:nvSpPr>
        <p:spPr>
          <a:xfrm>
            <a:off x="3765754" y="2851354"/>
            <a:ext cx="2172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1k ohm – 10k ohm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3FF280-4037-D794-D87C-145C6673E7EA}"/>
              </a:ext>
            </a:extLst>
          </p:cNvPr>
          <p:cNvSpPr txBox="1"/>
          <p:nvPr/>
        </p:nvSpPr>
        <p:spPr>
          <a:xfrm>
            <a:off x="88489" y="5992295"/>
            <a:ext cx="3844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Normally speed of device is 400kbps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99725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00FA5-5110-CFCB-D3AB-34C065B1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Diagram</a:t>
            </a:r>
            <a:endParaRPr lang="en-IN" dirty="0"/>
          </a:p>
        </p:txBody>
      </p:sp>
      <p:pic>
        <p:nvPicPr>
          <p:cNvPr id="2050" name="Picture 2" descr="Basics of the I2C Communication Protocol">
            <a:extLst>
              <a:ext uri="{FF2B5EF4-FFF2-40B4-BE49-F238E27FC236}">
                <a16:creationId xmlns:a16="http://schemas.microsoft.com/office/drawing/2014/main" id="{1F0A82BE-67E0-B495-50E6-F36A55601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455914"/>
            <a:ext cx="975360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060477-AA0B-903C-81E6-393FE0999129}"/>
              </a:ext>
            </a:extLst>
          </p:cNvPr>
          <p:cNvSpPr txBox="1"/>
          <p:nvPr/>
        </p:nvSpPr>
        <p:spPr>
          <a:xfrm>
            <a:off x="5008880" y="5123918"/>
            <a:ext cx="2570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0" dirty="0">
                <a:solidFill>
                  <a:srgbClr val="3A3A3A"/>
                </a:solidFill>
                <a:effectLst/>
                <a:latin typeface="Verdana" panose="020B0604030504040204" pitchFamily="34" charset="0"/>
              </a:rPr>
              <a:t>How I2C Works [6]</a:t>
            </a:r>
          </a:p>
        </p:txBody>
      </p:sp>
    </p:spTree>
    <p:extLst>
      <p:ext uri="{BB962C8B-B14F-4D97-AF65-F5344CB8AC3E}">
        <p14:creationId xmlns:p14="http://schemas.microsoft.com/office/powerpoint/2010/main" val="1873164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EBC3AB-89DE-170F-C993-265679A2D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060" y="1026159"/>
            <a:ext cx="7806980" cy="42828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8C2DA2-B5AF-25B7-9919-BD0B8F3EE347}"/>
              </a:ext>
            </a:extLst>
          </p:cNvPr>
          <p:cNvSpPr txBox="1"/>
          <p:nvPr/>
        </p:nvSpPr>
        <p:spPr>
          <a:xfrm>
            <a:off x="9604972" y="4713755"/>
            <a:ext cx="589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[5]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97933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56567D-5EE2-136D-8E71-A76F72E4E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" y="1005841"/>
            <a:ext cx="10284984" cy="431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558E6F-E777-0912-5FCF-1436E91B4B0E}"/>
              </a:ext>
            </a:extLst>
          </p:cNvPr>
          <p:cNvSpPr txBox="1"/>
          <p:nvPr/>
        </p:nvSpPr>
        <p:spPr>
          <a:xfrm>
            <a:off x="7492180" y="4532672"/>
            <a:ext cx="58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[5]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6620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55E68-28B7-2AAF-8005-45BDB620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87897"/>
            <a:ext cx="10058400" cy="915239"/>
          </a:xfrm>
        </p:spPr>
        <p:txBody>
          <a:bodyPr/>
          <a:lstStyle/>
          <a:p>
            <a:r>
              <a:rPr lang="en-US" dirty="0"/>
              <a:t>Process Algorithm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ECA633-4846-923B-FF58-F106BDE10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803633"/>
            <a:ext cx="7528696" cy="450069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B98196-D452-6BCA-4D92-C99CEC7C72CA}"/>
              </a:ext>
            </a:extLst>
          </p:cNvPr>
          <p:cNvSpPr txBox="1"/>
          <p:nvPr/>
        </p:nvSpPr>
        <p:spPr>
          <a:xfrm>
            <a:off x="2871020" y="1730116"/>
            <a:ext cx="75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[3]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35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DCBA9-65F6-F388-A594-3922C879E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71" y="257106"/>
            <a:ext cx="10058400" cy="1450757"/>
          </a:xfrm>
        </p:spPr>
        <p:txBody>
          <a:bodyPr/>
          <a:lstStyle/>
          <a:p>
            <a:r>
              <a:rPr lang="en-US" dirty="0"/>
              <a:t>I²C Arbitration and Clock Synchronization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AE72B-F483-413D-AE69-562027272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2209528"/>
            <a:ext cx="11720051" cy="402336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3200" dirty="0"/>
              <a:t>Introduction to I²C Arbitration.</a:t>
            </a:r>
          </a:p>
          <a:p>
            <a:pPr marL="0" indent="0">
              <a:buNone/>
            </a:pPr>
            <a:r>
              <a:rPr lang="en-IN" sz="3200" dirty="0"/>
              <a:t>Arbitration Mechanism.</a:t>
            </a:r>
          </a:p>
          <a:p>
            <a:r>
              <a:rPr lang="en-IN" sz="3200" dirty="0"/>
              <a:t>    </a:t>
            </a:r>
            <a:r>
              <a:rPr lang="en-US" sz="3200" dirty="0"/>
              <a:t>Arbitration occurs on the SDA line while the *SCL line* is high.</a:t>
            </a:r>
          </a:p>
          <a:p>
            <a:r>
              <a:rPr lang="en-US" sz="3200" dirty="0"/>
              <a:t>    Each master monitors the SDA line and compares the sent and actual data on the bus.</a:t>
            </a:r>
          </a:p>
          <a:p>
            <a:pPr marL="0" indent="0">
              <a:buNone/>
            </a:pPr>
            <a:r>
              <a:rPr lang="en-US" sz="3200" dirty="0"/>
              <a:t>      If a master sends a HIGH but reads a LOW, it loses arbitration and stops transmitting.</a:t>
            </a:r>
          </a:p>
          <a:p>
            <a:pPr marL="0" indent="0">
              <a:buNone/>
            </a:pPr>
            <a:r>
              <a:rPr lang="en-US" sz="3200" dirty="0"/>
              <a:t>      Arbitration continues bit-by-bit until one master remains (the winner).</a:t>
            </a:r>
          </a:p>
          <a:p>
            <a:pPr marL="0" indent="0">
              <a:buNone/>
            </a:pPr>
            <a:r>
              <a:rPr lang="en-US" sz="3200" dirty="0"/>
              <a:t>     This process ensures no data loss because the winning master continues its transmission seamlessly.</a:t>
            </a:r>
            <a:endParaRPr lang="en-IN" sz="3200" dirty="0"/>
          </a:p>
          <a:p>
            <a:pPr marL="0" indent="0">
              <a:buNone/>
            </a:pPr>
            <a:r>
              <a:rPr lang="en-IN" sz="3200" dirty="0"/>
              <a:t>Clock Synchronization.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9266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F5D453-5845-9272-4931-0913DEA70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240" y="1071716"/>
            <a:ext cx="8444322" cy="39722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C9CD0D-46AD-B93B-C9D1-E13257CF10D7}"/>
              </a:ext>
            </a:extLst>
          </p:cNvPr>
          <p:cNvSpPr txBox="1"/>
          <p:nvPr/>
        </p:nvSpPr>
        <p:spPr>
          <a:xfrm>
            <a:off x="8091948" y="4552335"/>
            <a:ext cx="76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[3]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934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EAF3-BEA6-D218-B100-9D47ABD98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I2C Using Verilog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ACFD0-0031-F49C-96BF-3ECA14ECB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 Diagram: 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BAD6BC-5BEF-5908-0CE6-E291332C16CC}"/>
              </a:ext>
            </a:extLst>
          </p:cNvPr>
          <p:cNvSpPr/>
          <p:nvPr/>
        </p:nvSpPr>
        <p:spPr>
          <a:xfrm>
            <a:off x="1700981" y="2635045"/>
            <a:ext cx="1769806" cy="793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I2C Master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377235-123C-FD89-041C-0725B29EE1BE}"/>
              </a:ext>
            </a:extLst>
          </p:cNvPr>
          <p:cNvSpPr/>
          <p:nvPr/>
        </p:nvSpPr>
        <p:spPr>
          <a:xfrm>
            <a:off x="1700981" y="4896465"/>
            <a:ext cx="1769806" cy="6980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Memory</a:t>
            </a:r>
            <a:endParaRPr lang="en-IN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8C4E6E-57E6-B677-4FF9-75A20615CB07}"/>
              </a:ext>
            </a:extLst>
          </p:cNvPr>
          <p:cNvSpPr/>
          <p:nvPr/>
        </p:nvSpPr>
        <p:spPr>
          <a:xfrm>
            <a:off x="5368413" y="3429000"/>
            <a:ext cx="2418735" cy="12019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SLAVE</a:t>
            </a:r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652B07-4331-8AC4-997C-490A8C2A4B04}"/>
              </a:ext>
            </a:extLst>
          </p:cNvPr>
          <p:cNvSpPr/>
          <p:nvPr/>
        </p:nvSpPr>
        <p:spPr>
          <a:xfrm>
            <a:off x="9242323" y="4896465"/>
            <a:ext cx="1913357" cy="6980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Memory</a:t>
            </a:r>
            <a:endParaRPr lang="en-IN" sz="2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C17C56-3ECD-5A17-5BA3-10BEC2807214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2585884" y="3429000"/>
            <a:ext cx="0" cy="146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6951C0-F875-DF5A-85BC-DFA992986B66}"/>
              </a:ext>
            </a:extLst>
          </p:cNvPr>
          <p:cNvCxnSpPr>
            <a:cxnSpLocks/>
          </p:cNvCxnSpPr>
          <p:nvPr/>
        </p:nvCxnSpPr>
        <p:spPr>
          <a:xfrm>
            <a:off x="2585884" y="3857414"/>
            <a:ext cx="2782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D4D2EE9-0F6A-2B79-426B-F4A1A263F4D6}"/>
              </a:ext>
            </a:extLst>
          </p:cNvPr>
          <p:cNvCxnSpPr>
            <a:cxnSpLocks/>
          </p:cNvCxnSpPr>
          <p:nvPr/>
        </p:nvCxnSpPr>
        <p:spPr>
          <a:xfrm flipV="1">
            <a:off x="2585884" y="4285829"/>
            <a:ext cx="2782529" cy="1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806CCA-B5E6-21C6-C1CF-1A5FFFE41C0F}"/>
              </a:ext>
            </a:extLst>
          </p:cNvPr>
          <p:cNvCxnSpPr>
            <a:stCxn id="6" idx="3"/>
          </p:cNvCxnSpPr>
          <p:nvPr/>
        </p:nvCxnSpPr>
        <p:spPr>
          <a:xfrm>
            <a:off x="7787148" y="4029997"/>
            <a:ext cx="23204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6B94E8-6E83-0BB8-A467-74649DE02B5A}"/>
              </a:ext>
            </a:extLst>
          </p:cNvPr>
          <p:cNvCxnSpPr/>
          <p:nvPr/>
        </p:nvCxnSpPr>
        <p:spPr>
          <a:xfrm>
            <a:off x="10117394" y="4029997"/>
            <a:ext cx="0" cy="866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077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43176-78F7-37B1-473F-11D9DCC55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17778"/>
            <a:ext cx="10058400" cy="1450757"/>
          </a:xfrm>
        </p:spPr>
        <p:txBody>
          <a:bodyPr/>
          <a:lstStyle/>
          <a:p>
            <a:r>
              <a:rPr lang="en-US" dirty="0"/>
              <a:t>Master: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CD2E61-98B8-E2BE-E0D2-3AC94019DBF8}"/>
              </a:ext>
            </a:extLst>
          </p:cNvPr>
          <p:cNvSpPr/>
          <p:nvPr/>
        </p:nvSpPr>
        <p:spPr>
          <a:xfrm>
            <a:off x="2364659" y="2675357"/>
            <a:ext cx="2300748" cy="7964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CLK Divider</a:t>
            </a:r>
            <a:endParaRPr lang="en-IN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4E187-3578-9A21-9AAC-D889DD884324}"/>
              </a:ext>
            </a:extLst>
          </p:cNvPr>
          <p:cNvSpPr/>
          <p:nvPr/>
        </p:nvSpPr>
        <p:spPr>
          <a:xfrm>
            <a:off x="6774426" y="2662575"/>
            <a:ext cx="2399071" cy="8091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FSM</a:t>
            </a:r>
            <a:endParaRPr lang="en-IN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AA62B8-ACBF-D35A-C7C6-D4D166F5B218}"/>
              </a:ext>
            </a:extLst>
          </p:cNvPr>
          <p:cNvSpPr/>
          <p:nvPr/>
        </p:nvSpPr>
        <p:spPr>
          <a:xfrm>
            <a:off x="3190569" y="4478593"/>
            <a:ext cx="5378245" cy="7964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Start and Stop condition generator</a:t>
            </a:r>
            <a:endParaRPr lang="en-IN" sz="2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D07E1D-21BF-0913-84ED-30D24C0D7297}"/>
              </a:ext>
            </a:extLst>
          </p:cNvPr>
          <p:cNvCxnSpPr/>
          <p:nvPr/>
        </p:nvCxnSpPr>
        <p:spPr>
          <a:xfrm>
            <a:off x="1651819" y="2271252"/>
            <a:ext cx="84065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3915EB-90A7-B571-6930-5CC3A685513E}"/>
              </a:ext>
            </a:extLst>
          </p:cNvPr>
          <p:cNvCxnSpPr/>
          <p:nvPr/>
        </p:nvCxnSpPr>
        <p:spPr>
          <a:xfrm>
            <a:off x="1651819" y="2271252"/>
            <a:ext cx="0" cy="3559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0AA2AC4-8F6C-BFBC-D365-F834BB5FE82B}"/>
              </a:ext>
            </a:extLst>
          </p:cNvPr>
          <p:cNvCxnSpPr/>
          <p:nvPr/>
        </p:nvCxnSpPr>
        <p:spPr>
          <a:xfrm>
            <a:off x="1651819" y="5850194"/>
            <a:ext cx="84065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2BE4DC-BB9A-D754-6CF0-9A5039830CE8}"/>
              </a:ext>
            </a:extLst>
          </p:cNvPr>
          <p:cNvCxnSpPr/>
          <p:nvPr/>
        </p:nvCxnSpPr>
        <p:spPr>
          <a:xfrm>
            <a:off x="10058400" y="2271252"/>
            <a:ext cx="0" cy="3559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781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B7E7476-0522-09FD-CAD9-4D2D04A4C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78" y="1393569"/>
            <a:ext cx="3981451" cy="37683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B6B1DA-ED41-871F-95F2-76915EA11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585" y="1005041"/>
            <a:ext cx="3824595" cy="386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097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137C-22D8-92A5-3543-0B37163E1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19431"/>
            <a:ext cx="10058400" cy="832792"/>
          </a:xfrm>
        </p:spPr>
        <p:txBody>
          <a:bodyPr/>
          <a:lstStyle/>
          <a:p>
            <a:r>
              <a:rPr lang="en-US" dirty="0"/>
              <a:t>State Diagram: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60CE9-C202-77BC-DE65-DC90F5856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30837" y="700547"/>
            <a:ext cx="4566603" cy="520274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F0539C-1CFF-4883-A4AA-3DFDB6484D70}"/>
              </a:ext>
            </a:extLst>
          </p:cNvPr>
          <p:cNvSpPr txBox="1"/>
          <p:nvPr/>
        </p:nvSpPr>
        <p:spPr>
          <a:xfrm>
            <a:off x="7231538" y="5893129"/>
            <a:ext cx="96520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[4]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898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E7230-458C-B934-C65D-710241A0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AD0C5D-413E-EBBB-D890-33C4AC654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4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793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3A75-44E2-99B7-7CD8-719D0F710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664EF-031E-9D70-952F-FCB67BD3C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407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C841-C9F7-1551-CB75-D959351BC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References: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50FF9-3020-A1AB-2F1E-456FFD5AB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[1]  EVALUATION OF I2C COMMUNICATION PROTOCOL IN DEVELOPMENT OF MODULAR CONTROLLER BOARDS Alvin Jacob, Wan </a:t>
            </a:r>
            <a:r>
              <a:rPr lang="en-US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Nurshazwani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Wan Zakaria, and Mohd Razali Bin Md Tomari, Advanced Mechatronics Research Group, Faculty of Electrical &amp; Electronic Engineering, University Tun Hussein Onn Malaysia, </a:t>
            </a:r>
            <a:r>
              <a:rPr lang="en-US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Parit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Raja, Batu Pahat, Johor, Malaysia.</a:t>
            </a:r>
          </a:p>
          <a:p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[2]  FSM implementation of I2C protocol and its verification using Verilog Tapaswi SJ1, Dr Kiran V2.</a:t>
            </a:r>
          </a:p>
          <a:p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[3]  Volume 2, Issue 1, January 2014 International Journal of Research in Advent Technology, Available Online at: 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http://www.ijrat.org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[4]  </a:t>
            </a:r>
            <a:r>
              <a:rPr lang="en-US" sz="190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Helvetica" panose="020B0604020202020204" pitchFamily="34" charset="0"/>
              </a:rPr>
              <a:t>I2C BUS PROTOCOL USING VERILOG 2019 JETIR June 2019, Volume 6, Issue 6</a:t>
            </a:r>
          </a:p>
          <a:p>
            <a:r>
              <a:rPr lang="en-US" sz="1900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Helvetica" panose="020B0604020202020204" pitchFamily="34" charset="0"/>
              </a:rPr>
              <a:t>[5]  </a:t>
            </a:r>
            <a:r>
              <a:rPr lang="en-IN" sz="190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Helvetica" panose="020B0604020202020204" pitchFamily="34" charset="0"/>
              </a:rPr>
              <a:t>Texas Instrumentation, “Understanding I2C Bus”, June 2015.</a:t>
            </a:r>
          </a:p>
          <a:p>
            <a:r>
              <a:rPr lang="en-IN" sz="190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</a:rPr>
              <a:t>[6]  </a:t>
            </a:r>
            <a:r>
              <a:rPr lang="en-IN" sz="190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https://www.circuitbasics.com/basics-of-the-i2c-communication-protocol</a:t>
            </a:r>
            <a:r>
              <a:rPr lang="en-IN" sz="190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br>
              <a:rPr lang="en-US" sz="190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Helvetica" panose="020B0604020202020204" pitchFamily="34" charset="0"/>
              </a:rPr>
            </a:br>
            <a:endParaRPr lang="en-US" sz="1900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29902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470</TotalTime>
  <Words>440</Words>
  <Application>Microsoft Office PowerPoint</Application>
  <PresentationFormat>Widescreen</PresentationFormat>
  <Paragraphs>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Calibri Light</vt:lpstr>
      <vt:lpstr>Times New Roman</vt:lpstr>
      <vt:lpstr>TimesNewRomanPS-BoldMT</vt:lpstr>
      <vt:lpstr>Verdana</vt:lpstr>
      <vt:lpstr>Retrospect</vt:lpstr>
      <vt:lpstr>I2C MASTER SLAVE COMMUNICATION USING VERILOG</vt:lpstr>
      <vt:lpstr>Communication Protocols</vt:lpstr>
      <vt:lpstr>PowerPoint Presentation</vt:lpstr>
      <vt:lpstr>I2C COMMUNICATION PROTOCOL</vt:lpstr>
      <vt:lpstr>Byte Diagram</vt:lpstr>
      <vt:lpstr>PowerPoint Presentation</vt:lpstr>
      <vt:lpstr>PowerPoint Presentation</vt:lpstr>
      <vt:lpstr>Process Algorithm </vt:lpstr>
      <vt:lpstr>I²C Arbitration and Clock Synchronization</vt:lpstr>
      <vt:lpstr>PowerPoint Presentation</vt:lpstr>
      <vt:lpstr>I2C Using Verilog</vt:lpstr>
      <vt:lpstr>Master:</vt:lpstr>
      <vt:lpstr>PowerPoint Presentation</vt:lpstr>
      <vt:lpstr>State Diagram:</vt:lpstr>
      <vt:lpstr>PowerPoint Presentation</vt:lpstr>
      <vt:lpstr>PowerPoint Presentation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samruddhi kage</dc:creator>
  <cp:lastModifiedBy>samruddhi kage</cp:lastModifiedBy>
  <cp:revision>4</cp:revision>
  <dcterms:created xsi:type="dcterms:W3CDTF">2025-05-02T02:18:44Z</dcterms:created>
  <dcterms:modified xsi:type="dcterms:W3CDTF">2025-05-03T06:11:25Z</dcterms:modified>
</cp:coreProperties>
</file>